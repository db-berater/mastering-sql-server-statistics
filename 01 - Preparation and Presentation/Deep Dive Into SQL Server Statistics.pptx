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20"/>
  </p:notesMasterIdLst>
  <p:handoutMasterIdLst>
    <p:handoutMasterId r:id="rId21"/>
  </p:handoutMasterIdLst>
  <p:sldIdLst>
    <p:sldId id="334" r:id="rId2"/>
    <p:sldId id="421" r:id="rId3"/>
    <p:sldId id="422" r:id="rId4"/>
    <p:sldId id="427" r:id="rId5"/>
    <p:sldId id="428" r:id="rId6"/>
    <p:sldId id="444" r:id="rId7"/>
    <p:sldId id="443" r:id="rId8"/>
    <p:sldId id="446" r:id="rId9"/>
    <p:sldId id="439" r:id="rId10"/>
    <p:sldId id="447" r:id="rId11"/>
    <p:sldId id="440" r:id="rId12"/>
    <p:sldId id="449" r:id="rId13"/>
    <p:sldId id="450" r:id="rId14"/>
    <p:sldId id="451" r:id="rId15"/>
    <p:sldId id="452" r:id="rId16"/>
    <p:sldId id="265" r:id="rId17"/>
    <p:sldId id="267" r:id="rId18"/>
    <p:sldId id="426" r:id="rId19"/>
  </p:sldIdLst>
  <p:sldSz cx="12192000" cy="6858000"/>
  <p:notesSz cx="6858000" cy="9144000"/>
  <p:defaultTextStyle>
    <a:defPPr>
      <a:defRPr lang="de-DE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89E442-C1C1-4DB9-994F-9FDDD37D8C34}" v="2" dt="2026-09-22T08:03:36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5" autoAdjust="0"/>
    <p:restoredTop sz="94657" autoAdjust="0"/>
  </p:normalViewPr>
  <p:slideViewPr>
    <p:cSldViewPr snapToGrid="0">
      <p:cViewPr varScale="1">
        <p:scale>
          <a:sx n="82" d="100"/>
          <a:sy n="82" d="100"/>
        </p:scale>
        <p:origin x="446" y="55"/>
      </p:cViewPr>
      <p:guideLst/>
    </p:cSldViewPr>
  </p:slideViewPr>
  <p:outlineViewPr>
    <p:cViewPr>
      <p:scale>
        <a:sx n="33" d="100"/>
        <a:sy n="33" d="100"/>
      </p:scale>
      <p:origin x="0" y="-1600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9" d="100"/>
          <a:sy n="89" d="100"/>
        </p:scale>
        <p:origin x="4109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E77B627B-1F43-41A9-9F24-D4BB31BF6050}"/>
    <pc:docChg chg="delSld modSld">
      <pc:chgData name="Uwe Ricken" userId="f02567aecbed924b" providerId="LiveId" clId="{E77B627B-1F43-41A9-9F24-D4BB31BF6050}" dt="2026-09-22T08:04:19.627" v="10" actId="2696"/>
      <pc:docMkLst>
        <pc:docMk/>
      </pc:docMkLst>
      <pc:sldChg chg="modSp mod">
        <pc:chgData name="Uwe Ricken" userId="f02567aecbed924b" providerId="LiveId" clId="{E77B627B-1F43-41A9-9F24-D4BB31BF6050}" dt="2026-09-22T08:03:36.115" v="1" actId="20577"/>
        <pc:sldMkLst>
          <pc:docMk/>
          <pc:sldMk cId="4067710344" sldId="334"/>
        </pc:sldMkLst>
        <pc:spChg chg="mod">
          <ac:chgData name="Uwe Ricken" userId="f02567aecbed924b" providerId="LiveId" clId="{E77B627B-1F43-41A9-9F24-D4BB31BF6050}" dt="2026-09-22T08:03:36.115" v="1" actId="20577"/>
          <ac:spMkLst>
            <pc:docMk/>
            <pc:sldMk cId="4067710344" sldId="334"/>
            <ac:spMk id="4" creationId="{00000000-0000-0000-0000-000000000000}"/>
          </ac:spMkLst>
        </pc:spChg>
      </pc:sldChg>
      <pc:sldChg chg="modSp mod">
        <pc:chgData name="Uwe Ricken" userId="f02567aecbed924b" providerId="LiveId" clId="{E77B627B-1F43-41A9-9F24-D4BB31BF6050}" dt="2026-09-22T08:04:07.308" v="9" actId="207"/>
        <pc:sldMkLst>
          <pc:docMk/>
          <pc:sldMk cId="1723918427" sldId="427"/>
        </pc:sldMkLst>
        <pc:spChg chg="mod">
          <ac:chgData name="Uwe Ricken" userId="f02567aecbed924b" providerId="LiveId" clId="{E77B627B-1F43-41A9-9F24-D4BB31BF6050}" dt="2026-09-22T08:03:50.108" v="8" actId="20577"/>
          <ac:spMkLst>
            <pc:docMk/>
            <pc:sldMk cId="1723918427" sldId="427"/>
            <ac:spMk id="2" creationId="{684B64B5-85B3-E815-0704-39A8BA721BC5}"/>
          </ac:spMkLst>
        </pc:spChg>
        <pc:spChg chg="mod">
          <ac:chgData name="Uwe Ricken" userId="f02567aecbed924b" providerId="LiveId" clId="{E77B627B-1F43-41A9-9F24-D4BB31BF6050}" dt="2026-09-22T08:04:07.308" v="9" actId="207"/>
          <ac:spMkLst>
            <pc:docMk/>
            <pc:sldMk cId="1723918427" sldId="427"/>
            <ac:spMk id="3" creationId="{90BAB31C-C8AA-AC67-0046-C0E3144819CF}"/>
          </ac:spMkLst>
        </pc:spChg>
      </pc:sldChg>
      <pc:sldChg chg="del">
        <pc:chgData name="Uwe Ricken" userId="f02567aecbed924b" providerId="LiveId" clId="{E77B627B-1F43-41A9-9F24-D4BB31BF6050}" dt="2026-09-22T08:04:19.627" v="10" actId="2696"/>
        <pc:sldMkLst>
          <pc:docMk/>
          <pc:sldMk cId="832578381" sldId="448"/>
        </pc:sldMkLst>
      </pc:sldChg>
    </pc:docChg>
  </pc:docChgLst>
  <pc:docChgLst>
    <pc:chgData name="Uwe Ricken" userId="f02567aecbed924b" providerId="LiveId" clId="{ADCDFE78-46AB-4DFC-8723-F56C4DA88176}"/>
    <pc:docChg chg="undo custSel addSld delSld modSld sldOrd">
      <pc:chgData name="Uwe Ricken" userId="f02567aecbed924b" providerId="LiveId" clId="{ADCDFE78-46AB-4DFC-8723-F56C4DA88176}" dt="2026-09-04T06:52:41.312" v="1145" actId="790"/>
      <pc:docMkLst>
        <pc:docMk/>
      </pc:docMkLst>
      <pc:sldChg chg="addSp delSp modSp add mod modClrScheme chgLayout">
        <pc:chgData name="Uwe Ricken" userId="f02567aecbed924b" providerId="LiveId" clId="{ADCDFE78-46AB-4DFC-8723-F56C4DA88176}" dt="2026-09-04T06:52:41.312" v="1145" actId="790"/>
        <pc:sldMkLst>
          <pc:docMk/>
          <pc:sldMk cId="3583500562" sldId="265"/>
        </pc:sldMkLst>
        <pc:spChg chg="mod ord">
          <ac:chgData name="Uwe Ricken" userId="f02567aecbed924b" providerId="LiveId" clId="{ADCDFE78-46AB-4DFC-8723-F56C4DA88176}" dt="2026-09-04T06:52:41.312" v="1145" actId="790"/>
          <ac:spMkLst>
            <pc:docMk/>
            <pc:sldMk cId="3583500562" sldId="265"/>
            <ac:spMk id="2" creationId="{00000000-0000-0000-0000-000000000000}"/>
          </ac:spMkLst>
        </pc:spChg>
        <pc:spChg chg="mod ord">
          <ac:chgData name="Uwe Ricken" userId="f02567aecbed924b" providerId="LiveId" clId="{ADCDFE78-46AB-4DFC-8723-F56C4DA88176}" dt="2026-09-04T06:52:41.312" v="1145" actId="790"/>
          <ac:spMkLst>
            <pc:docMk/>
            <pc:sldMk cId="3583500562" sldId="265"/>
            <ac:spMk id="3" creationId="{00000000-0000-0000-0000-000000000000}"/>
          </ac:spMkLst>
        </pc:spChg>
        <pc:spChg chg="add mod ord">
          <ac:chgData name="Uwe Ricken" userId="f02567aecbed924b" providerId="LiveId" clId="{ADCDFE78-46AB-4DFC-8723-F56C4DA88176}" dt="2026-09-04T06:52:41.312" v="1145" actId="790"/>
          <ac:spMkLst>
            <pc:docMk/>
            <pc:sldMk cId="3583500562" sldId="265"/>
            <ac:spMk id="4" creationId="{4E3E1A19-00D4-9AAB-DD03-3814B8F0D3A2}"/>
          </ac:spMkLst>
        </pc:spChg>
      </pc:sldChg>
      <pc:sldChg chg="add">
        <pc:chgData name="Uwe Ricken" userId="f02567aecbed924b" providerId="LiveId" clId="{ADCDFE78-46AB-4DFC-8723-F56C4DA88176}" dt="2026-09-04T06:45:50.941" v="949"/>
        <pc:sldMkLst>
          <pc:docMk/>
          <pc:sldMk cId="766496067" sldId="267"/>
        </pc:sldMkLst>
      </pc:sldChg>
      <pc:sldChg chg="modSp mod ord modShow">
        <pc:chgData name="Uwe Ricken" userId="f02567aecbed924b" providerId="LiveId" clId="{ADCDFE78-46AB-4DFC-8723-F56C4DA88176}" dt="2026-09-04T04:18:43.872" v="295" actId="20577"/>
        <pc:sldMkLst>
          <pc:docMk/>
          <pc:sldMk cId="1723918427" sldId="427"/>
        </pc:sldMkLst>
        <pc:spChg chg="mod">
          <ac:chgData name="Uwe Ricken" userId="f02567aecbed924b" providerId="LiveId" clId="{ADCDFE78-46AB-4DFC-8723-F56C4DA88176}" dt="2026-09-04T04:18:43.872" v="295" actId="20577"/>
          <ac:spMkLst>
            <pc:docMk/>
            <pc:sldMk cId="1723918427" sldId="427"/>
            <ac:spMk id="2" creationId="{684B64B5-85B3-E815-0704-39A8BA721BC5}"/>
          </ac:spMkLst>
        </pc:spChg>
      </pc:sldChg>
      <pc:sldChg chg="delSp modSp add mod">
        <pc:chgData name="Uwe Ricken" userId="f02567aecbed924b" providerId="LiveId" clId="{ADCDFE78-46AB-4DFC-8723-F56C4DA88176}" dt="2026-09-04T03:33:35.713" v="46" actId="20577"/>
        <pc:sldMkLst>
          <pc:docMk/>
          <pc:sldMk cId="4272028020" sldId="428"/>
        </pc:sldMkLst>
        <pc:spChg chg="mod">
          <ac:chgData name="Uwe Ricken" userId="f02567aecbed924b" providerId="LiveId" clId="{ADCDFE78-46AB-4DFC-8723-F56C4DA88176}" dt="2026-09-04T03:33:28.062" v="44" actId="790"/>
          <ac:spMkLst>
            <pc:docMk/>
            <pc:sldMk cId="4272028020" sldId="428"/>
            <ac:spMk id="2" creationId="{2CF98760-9CAE-26AD-A570-3D6781D6DDA0}"/>
          </ac:spMkLst>
        </pc:spChg>
        <pc:spChg chg="mod">
          <ac:chgData name="Uwe Ricken" userId="f02567aecbed924b" providerId="LiveId" clId="{ADCDFE78-46AB-4DFC-8723-F56C4DA88176}" dt="2026-09-04T03:33:35.713" v="46" actId="20577"/>
          <ac:spMkLst>
            <pc:docMk/>
            <pc:sldMk cId="4272028020" sldId="428"/>
            <ac:spMk id="3" creationId="{8708206E-6D6D-BBFF-B7BB-7ACD9D222499}"/>
          </ac:spMkLst>
        </pc:spChg>
      </pc:sldChg>
      <pc:sldChg chg="modSp add mod">
        <pc:chgData name="Uwe Ricken" userId="f02567aecbed924b" providerId="LiveId" clId="{ADCDFE78-46AB-4DFC-8723-F56C4DA88176}" dt="2026-09-04T03:51:55.270" v="163" actId="790"/>
        <pc:sldMkLst>
          <pc:docMk/>
          <pc:sldMk cId="586782314" sldId="439"/>
        </pc:sldMkLst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2" creationId="{5118546A-68F4-0997-EB9B-EAB0B3C8B97E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6" creationId="{B3F68817-F07B-78BD-E4F8-D1D84D66E145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7" creationId="{2165EDF6-3E55-2F99-045D-499E9CCEA74E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9" creationId="{0CBC5113-2680-A6A2-F23F-E3665CDB7482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10" creationId="{50908476-80C9-5A00-59EB-78E5B24399B8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12" creationId="{46E2E933-DA56-30DE-1073-212E6E3C2B18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15" creationId="{7DEA002E-D9B3-BE67-C07D-2E458A0DE66A}"/>
          </ac:spMkLst>
        </pc:spChg>
      </pc:sldChg>
      <pc:sldChg chg="add del">
        <pc:chgData name="Uwe Ricken" userId="f02567aecbed924b" providerId="LiveId" clId="{ADCDFE78-46AB-4DFC-8723-F56C4DA88176}" dt="2026-09-04T03:36:01.563" v="50" actId="47"/>
        <pc:sldMkLst>
          <pc:docMk/>
          <pc:sldMk cId="1792107071" sldId="440"/>
        </pc:sldMkLst>
      </pc:sldChg>
      <pc:sldChg chg="add">
        <pc:chgData name="Uwe Ricken" userId="f02567aecbed924b" providerId="LiveId" clId="{ADCDFE78-46AB-4DFC-8723-F56C4DA88176}" dt="2026-09-04T03:34:45.550" v="47"/>
        <pc:sldMkLst>
          <pc:docMk/>
          <pc:sldMk cId="1261488434" sldId="443"/>
        </pc:sldMkLst>
      </pc:sldChg>
      <pc:sldChg chg="add">
        <pc:chgData name="Uwe Ricken" userId="f02567aecbed924b" providerId="LiveId" clId="{ADCDFE78-46AB-4DFC-8723-F56C4DA88176}" dt="2026-09-04T03:34:45.550" v="47"/>
        <pc:sldMkLst>
          <pc:docMk/>
          <pc:sldMk cId="724504868" sldId="444"/>
        </pc:sldMkLst>
      </pc:sldChg>
      <pc:sldChg chg="add">
        <pc:chgData name="Uwe Ricken" userId="f02567aecbed924b" providerId="LiveId" clId="{ADCDFE78-46AB-4DFC-8723-F56C4DA88176}" dt="2026-09-04T03:34:45.550" v="47"/>
        <pc:sldMkLst>
          <pc:docMk/>
          <pc:sldMk cId="1321540184" sldId="446"/>
        </pc:sldMkLst>
      </pc:sldChg>
      <pc:sldChg chg="add">
        <pc:chgData name="Uwe Ricken" userId="f02567aecbed924b" providerId="LiveId" clId="{ADCDFE78-46AB-4DFC-8723-F56C4DA88176}" dt="2026-09-04T03:34:45.550" v="47"/>
        <pc:sldMkLst>
          <pc:docMk/>
          <pc:sldMk cId="2630471571" sldId="447"/>
        </pc:sldMkLst>
      </pc:sldChg>
      <pc:sldChg chg="modSp add mod">
        <pc:chgData name="Uwe Ricken" userId="f02567aecbed924b" providerId="LiveId" clId="{ADCDFE78-46AB-4DFC-8723-F56C4DA88176}" dt="2026-09-04T03:37:27.753" v="110" actId="20577"/>
        <pc:sldMkLst>
          <pc:docMk/>
          <pc:sldMk cId="832578381" sldId="448"/>
        </pc:sldMkLst>
        <pc:spChg chg="mod">
          <ac:chgData name="Uwe Ricken" userId="f02567aecbed924b" providerId="LiveId" clId="{ADCDFE78-46AB-4DFC-8723-F56C4DA88176}" dt="2026-09-04T03:36:52.942" v="67" actId="20577"/>
          <ac:spMkLst>
            <pc:docMk/>
            <pc:sldMk cId="832578381" sldId="448"/>
            <ac:spMk id="2" creationId="{8B3D626D-F31C-30FF-FE10-7546735A14CE}"/>
          </ac:spMkLst>
        </pc:spChg>
        <pc:spChg chg="mod">
          <ac:chgData name="Uwe Ricken" userId="f02567aecbed924b" providerId="LiveId" clId="{ADCDFE78-46AB-4DFC-8723-F56C4DA88176}" dt="2026-09-04T03:37:27.753" v="110" actId="20577"/>
          <ac:spMkLst>
            <pc:docMk/>
            <pc:sldMk cId="832578381" sldId="448"/>
            <ac:spMk id="3" creationId="{2AD98622-A28E-92AE-A688-5BB8C10DB594}"/>
          </ac:spMkLst>
        </pc:spChg>
      </pc:sldChg>
      <pc:sldChg chg="modSp add mod">
        <pc:chgData name="Uwe Ricken" userId="f02567aecbed924b" providerId="LiveId" clId="{ADCDFE78-46AB-4DFC-8723-F56C4DA88176}" dt="2026-09-04T03:51:42.175" v="162" actId="790"/>
        <pc:sldMkLst>
          <pc:docMk/>
          <pc:sldMk cId="2170550589" sldId="449"/>
        </pc:sldMkLst>
        <pc:spChg chg="mod">
          <ac:chgData name="Uwe Ricken" userId="f02567aecbed924b" providerId="LiveId" clId="{ADCDFE78-46AB-4DFC-8723-F56C4DA88176}" dt="2026-09-04T03:51:42.175" v="162" actId="790"/>
          <ac:spMkLst>
            <pc:docMk/>
            <pc:sldMk cId="2170550589" sldId="449"/>
            <ac:spMk id="2" creationId="{31B98E8F-337F-0E09-1460-3CF42A2A837D}"/>
          </ac:spMkLst>
        </pc:spChg>
        <pc:spChg chg="mod">
          <ac:chgData name="Uwe Ricken" userId="f02567aecbed924b" providerId="LiveId" clId="{ADCDFE78-46AB-4DFC-8723-F56C4DA88176}" dt="2026-09-04T03:51:42.175" v="162" actId="790"/>
          <ac:spMkLst>
            <pc:docMk/>
            <pc:sldMk cId="2170550589" sldId="449"/>
            <ac:spMk id="3" creationId="{2AEB3CFC-FE4D-CB10-A11F-92878323652A}"/>
          </ac:spMkLst>
        </pc:spChg>
      </pc:sldChg>
      <pc:sldChg chg="addSp delSp modSp new mod modClrScheme modAnim chgLayout">
        <pc:chgData name="Uwe Ricken" userId="f02567aecbed924b" providerId="LiveId" clId="{ADCDFE78-46AB-4DFC-8723-F56C4DA88176}" dt="2026-09-04T04:00:01.703" v="291"/>
        <pc:sldMkLst>
          <pc:docMk/>
          <pc:sldMk cId="483515026" sldId="450"/>
        </pc:sldMkLst>
        <pc:spChg chg="mod ord">
          <ac:chgData name="Uwe Ricken" userId="f02567aecbed924b" providerId="LiveId" clId="{ADCDFE78-46AB-4DFC-8723-F56C4DA88176}" dt="2026-09-04T03:59:36.628" v="290" actId="790"/>
          <ac:spMkLst>
            <pc:docMk/>
            <pc:sldMk cId="483515026" sldId="450"/>
            <ac:spMk id="2" creationId="{86CED106-DC8A-2F3B-42EE-F176C669A44C}"/>
          </ac:spMkLst>
        </pc:spChg>
        <pc:spChg chg="add mod ord">
          <ac:chgData name="Uwe Ricken" userId="f02567aecbed924b" providerId="LiveId" clId="{ADCDFE78-46AB-4DFC-8723-F56C4DA88176}" dt="2026-09-04T03:59:36.628" v="290" actId="790"/>
          <ac:spMkLst>
            <pc:docMk/>
            <pc:sldMk cId="483515026" sldId="450"/>
            <ac:spMk id="5" creationId="{37499CFD-98E6-07B7-8C9E-BF2C14BFD145}"/>
          </ac:spMkLst>
        </pc:spChg>
        <pc:picChg chg="add mod ord">
          <ac:chgData name="Uwe Ricken" userId="f02567aecbed924b" providerId="LiveId" clId="{ADCDFE78-46AB-4DFC-8723-F56C4DA88176}" dt="2026-09-04T03:53:48.343" v="183" actId="22"/>
          <ac:picMkLst>
            <pc:docMk/>
            <pc:sldMk cId="483515026" sldId="450"/>
            <ac:picMk id="7" creationId="{DEE4F916-CB34-0EB6-1E57-FA18399F7925}"/>
          </ac:picMkLst>
        </pc:picChg>
        <pc:picChg chg="add mod">
          <ac:chgData name="Uwe Ricken" userId="f02567aecbed924b" providerId="LiveId" clId="{ADCDFE78-46AB-4DFC-8723-F56C4DA88176}" dt="2026-09-04T03:56:24.530" v="188" actId="1582"/>
          <ac:picMkLst>
            <pc:docMk/>
            <pc:sldMk cId="483515026" sldId="450"/>
            <ac:picMk id="9" creationId="{A7285931-58EA-3972-ECDB-69059EB05F76}"/>
          </ac:picMkLst>
        </pc:picChg>
      </pc:sldChg>
      <pc:sldChg chg="addSp delSp modSp new mod modClrScheme chgLayout">
        <pc:chgData name="Uwe Ricken" userId="f02567aecbed924b" providerId="LiveId" clId="{ADCDFE78-46AB-4DFC-8723-F56C4DA88176}" dt="2026-09-04T05:57:16.069" v="627" actId="20577"/>
        <pc:sldMkLst>
          <pc:docMk/>
          <pc:sldMk cId="2159323599" sldId="451"/>
        </pc:sldMkLst>
        <pc:spChg chg="add mod ord">
          <ac:chgData name="Uwe Ricken" userId="f02567aecbed924b" providerId="LiveId" clId="{ADCDFE78-46AB-4DFC-8723-F56C4DA88176}" dt="2026-09-04T04:21:53.025" v="536" actId="700"/>
          <ac:spMkLst>
            <pc:docMk/>
            <pc:sldMk cId="2159323599" sldId="451"/>
            <ac:spMk id="5" creationId="{F95A5C6F-59A1-79F5-FD34-C2B4C18D723D}"/>
          </ac:spMkLst>
        </pc:spChg>
        <pc:spChg chg="add mod ord">
          <ac:chgData name="Uwe Ricken" userId="f02567aecbed924b" providerId="LiveId" clId="{ADCDFE78-46AB-4DFC-8723-F56C4DA88176}" dt="2026-09-04T04:24:07.184" v="617" actId="20577"/>
          <ac:spMkLst>
            <pc:docMk/>
            <pc:sldMk cId="2159323599" sldId="451"/>
            <ac:spMk id="6" creationId="{AE78492F-4A4B-B20A-E607-E98564D67301}"/>
          </ac:spMkLst>
        </pc:spChg>
        <pc:spChg chg="add mod ord">
          <ac:chgData name="Uwe Ricken" userId="f02567aecbed924b" providerId="LiveId" clId="{ADCDFE78-46AB-4DFC-8723-F56C4DA88176}" dt="2026-09-04T05:57:16.069" v="627" actId="20577"/>
          <ac:spMkLst>
            <pc:docMk/>
            <pc:sldMk cId="2159323599" sldId="451"/>
            <ac:spMk id="7" creationId="{D28FD8A4-1016-E679-A8E2-B4924706398C}"/>
          </ac:spMkLst>
        </pc:spChg>
      </pc:sldChg>
      <pc:sldChg chg="addSp delSp modSp new mod addAnim delAnim modAnim">
        <pc:chgData name="Uwe Ricken" userId="f02567aecbed924b" providerId="LiveId" clId="{ADCDFE78-46AB-4DFC-8723-F56C4DA88176}" dt="2026-09-04T06:37:53.422" v="878"/>
        <pc:sldMkLst>
          <pc:docMk/>
          <pc:sldMk cId="1324504645" sldId="452"/>
        </pc:sldMkLst>
        <pc:spChg chg="mod">
          <ac:chgData name="Uwe Ricken" userId="f02567aecbed924b" providerId="LiveId" clId="{ADCDFE78-46AB-4DFC-8723-F56C4DA88176}" dt="2026-09-04T05:58:06.027" v="656" actId="20577"/>
          <ac:spMkLst>
            <pc:docMk/>
            <pc:sldMk cId="1324504645" sldId="452"/>
            <ac:spMk id="2" creationId="{DD6409B4-8AAE-E12E-F441-DB44B2B2EE82}"/>
          </ac:spMkLst>
        </pc:spChg>
        <pc:spChg chg="mod">
          <ac:chgData name="Uwe Ricken" userId="f02567aecbed924b" providerId="LiveId" clId="{ADCDFE78-46AB-4DFC-8723-F56C4DA88176}" dt="2026-09-04T06:00:45.751" v="857" actId="20577"/>
          <ac:spMkLst>
            <pc:docMk/>
            <pc:sldMk cId="1324504645" sldId="452"/>
            <ac:spMk id="3" creationId="{7700B0E9-5A46-85AF-C209-1BDCF35B4A37}"/>
          </ac:spMkLst>
        </pc:spChg>
        <pc:picChg chg="add mod">
          <ac:chgData name="Uwe Ricken" userId="f02567aecbed924b" providerId="LiveId" clId="{ADCDFE78-46AB-4DFC-8723-F56C4DA88176}" dt="2026-09-04T06:37:20.860" v="874" actId="962"/>
          <ac:picMkLst>
            <pc:docMk/>
            <pc:sldMk cId="1324504645" sldId="452"/>
            <ac:picMk id="6" creationId="{8D6BBEC3-F3AE-7A88-3D5B-85987A0F910B}"/>
          </ac:picMkLst>
        </pc:picChg>
        <pc:picChg chg="add mod">
          <ac:chgData name="Uwe Ricken" userId="f02567aecbed924b" providerId="LiveId" clId="{ADCDFE78-46AB-4DFC-8723-F56C4DA88176}" dt="2026-09-04T06:37:29.073" v="875" actId="962"/>
          <ac:picMkLst>
            <pc:docMk/>
            <pc:sldMk cId="1324504645" sldId="452"/>
            <ac:picMk id="7" creationId="{7D052FBA-CE81-EA1E-888A-AD0BA3DEFD3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95F6E2-816D-EA6A-5DEA-40D76F1BD4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772916-3EAE-B9EC-60EA-921EFA711C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BF07A-ED4C-4AF9-AE1D-92DA2A77E055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6A97A4-A61F-8813-DE61-CB30C96B68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987BBE-EA5A-0658-2230-8B45339B9D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1003D-A7A4-4B78-8434-F81A4CB87921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46490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63C78-F46A-42B2-BCDE-B4D920D39058}" type="datetimeFigureOut">
              <a:rPr lang="de-DE" smtClean="0"/>
              <a:t>22.09.2026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5F965-EADC-41B6-9D17-C184A12BE1F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044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F98B-DCFC-47FF-B222-63D8297F3274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4165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327E8-CC64-6B47-4C70-06A4E97B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2517C9B-C16C-F1B8-5498-FAC0D2DE2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B29DA42-708B-9B49-5FC5-18E9E34A8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9357AB-2A28-E0B9-C953-7A2892DDF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F98B-DCFC-47FF-B222-63D8297F3274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8206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step toward a new house is finding the right partner to create the construction plans.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66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8564-806D-0C7C-7059-9D3FB3D4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3E5E07A-B4B3-222D-B167-033BDA295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DDF6E69-0E12-E575-9935-9E5DEBDA9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step toward a new house is finding the right partner to create the construction plans.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FC5674-9E92-B7A8-135D-911A43619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4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84C3-B6C9-EE7F-6C85-C6353C29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0EEAAF-0C37-F168-3F3A-374905EC0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D2BA9BF-7984-84E2-5C27-3F1CC644D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8CD735-0740-5D34-D48D-9561AF11A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52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FB79F-A7A0-0E8E-5ED3-79ABB7F3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74A5376-1900-73F7-1698-08973A965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633536-B468-0C39-A27B-6DB304395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regularly assesses the architect's skills and sends him to seminars to learn new technologies.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56271B-6045-40D8-F587-474AAF700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4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1312-1CDB-5655-E97A-1F269E143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A05A6A1-E254-27EB-1D1F-73BAFAC98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9127114-8AD9-9113-31D5-4199A1444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of a cost assessment:</a:t>
            </a:r>
          </a:p>
          <a:p>
            <a:r>
              <a:rPr lang="en-US" dirty="0"/>
              <a:t>The architect must factor in the cost of excavating the construction pit!</a:t>
            </a:r>
          </a:p>
          <a:p>
            <a:r>
              <a:rPr lang="en-US" dirty="0"/>
              <a:t>Should he employ five workers to dig the pit by hand?</a:t>
            </a:r>
          </a:p>
          <a:p>
            <a:r>
              <a:rPr lang="en-US" dirty="0"/>
              <a:t>Or should he use an excavator to dig it?</a:t>
            </a:r>
          </a:p>
          <a:p>
            <a:endParaRPr lang="en-US" dirty="0"/>
          </a:p>
          <a:p>
            <a:r>
              <a:rPr lang="en-US" dirty="0"/>
              <a:t>The architect will calculate the costs for both options and then choose the most cost-effective solution!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BF9360-F701-3C6F-F934-5F3E503D0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62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F01CD-248C-2DA7-6096-B4C013A5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AD4F13-F64A-80DA-7188-A3407F93D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8AE3EE9-82CD-2960-8270-C62EC30B4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EDCD71-4D98-A047-F4B6-D996E848C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F98B-DCFC-47FF-B222-63D8297F3274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746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 anchor="b">
            <a:normAutofit/>
          </a:bodyPr>
          <a:lstStyle>
            <a:lvl1pPr algn="ctr"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67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405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3" y="1665288"/>
            <a:ext cx="11522077" cy="4572000"/>
          </a:xfrm>
        </p:spPr>
        <p:txBody>
          <a:bodyPr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029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70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729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b Berater - Coding Ex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  <a:lvl2pPr marL="457155" indent="0">
              <a:buNone/>
              <a:defRPr sz="1600">
                <a:latin typeface="Lucida Console" panose="020B0609040504020204" pitchFamily="49" charset="0"/>
              </a:defRPr>
            </a:lvl2pPr>
            <a:lvl3pPr marL="914308" indent="0">
              <a:buNone/>
              <a:defRPr sz="1600">
                <a:latin typeface="Lucida Console" panose="020B0609040504020204" pitchFamily="49" charset="0"/>
              </a:defRPr>
            </a:lvl3pPr>
            <a:lvl4pPr marL="1371462" indent="0">
              <a:buNone/>
              <a:defRPr sz="1600">
                <a:latin typeface="Lucida Console" panose="020B0609040504020204" pitchFamily="49" charset="0"/>
              </a:defRPr>
            </a:lvl4pPr>
            <a:lvl5pPr marL="1828618" indent="0">
              <a:buNone/>
              <a:defRPr sz="1600">
                <a:latin typeface="Lucida Console" panose="020B06090405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>
            <a:lvl1pPr marL="228589" indent="-228589">
              <a:buFont typeface="Arial" panose="020B0604020202020204" pitchFamily="34" charset="0"/>
              <a:buChar char="•"/>
              <a:defRPr sz="1600"/>
            </a:lvl1pPr>
            <a:lvl2pPr marL="457143" indent="0">
              <a:buNone/>
              <a:defRPr sz="1467"/>
            </a:lvl2pPr>
            <a:lvl3pPr marL="914286" indent="0">
              <a:buNone/>
              <a:defRPr sz="1200"/>
            </a:lvl3pPr>
            <a:lvl4pPr marL="1371430" indent="0">
              <a:buNone/>
              <a:defRPr sz="1067"/>
            </a:lvl4pPr>
            <a:lvl5pPr marL="1828573" indent="0">
              <a:buNone/>
              <a:defRPr sz="1067"/>
            </a:lvl5pPr>
            <a:lvl6pPr marL="2285718" indent="0">
              <a:buNone/>
              <a:defRPr sz="1067"/>
            </a:lvl6pPr>
            <a:lvl7pPr marL="2742858" indent="0">
              <a:buNone/>
              <a:defRPr sz="1067"/>
            </a:lvl7pPr>
            <a:lvl8pPr marL="3200000" indent="0">
              <a:buNone/>
              <a:defRPr sz="1067"/>
            </a:lvl8pPr>
            <a:lvl9pPr marL="3657143" indent="0">
              <a:buNone/>
              <a:defRPr sz="1067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12C8F18-4741-03DA-3F19-FC0858FB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8156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15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b-berater.de/" TargetMode="Externa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450852"/>
            <a:ext cx="9018492" cy="1102353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7" y="1665290"/>
            <a:ext cx="11490063" cy="4571999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72600" y="450848"/>
            <a:ext cx="2471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en-US" sz="2400" b="1" noProof="0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en-US" sz="1000" b="1" noProof="0" dirty="0"/>
              <a:t>Planung – Installation</a:t>
            </a:r>
            <a:r>
              <a:rPr lang="en-US" sz="1000" b="1" baseline="0" noProof="0" dirty="0"/>
              <a:t> – Optimierung</a:t>
            </a:r>
            <a:br>
              <a:rPr lang="en-US" sz="1000" b="1" baseline="0" noProof="0" dirty="0"/>
            </a:br>
            <a:br>
              <a:rPr lang="en-US" sz="1000" b="1" baseline="0" noProof="0" dirty="0"/>
            </a:br>
            <a:endParaRPr lang="en-US" sz="1000" b="1" noProof="0" dirty="0"/>
          </a:p>
          <a:p>
            <a:pPr algn="r"/>
            <a:r>
              <a:rPr lang="en-US" sz="1000" b="1" noProof="0" dirty="0">
                <a:hlinkClick r:id="rId8"/>
              </a:rPr>
              <a:t>http://www.db-berater.de</a:t>
            </a:r>
            <a:endParaRPr lang="en-US" sz="1000" b="1" noProof="0" dirty="0"/>
          </a:p>
          <a:p>
            <a:pPr algn="r"/>
            <a:r>
              <a:rPr lang="en-US" sz="1000" b="1" noProof="0" dirty="0"/>
              <a:t>info@db-berater.de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3090C9-CD56-60CA-9231-B8662A341995}"/>
              </a:ext>
            </a:extLst>
          </p:cNvPr>
          <p:cNvSpPr/>
          <p:nvPr/>
        </p:nvSpPr>
        <p:spPr>
          <a:xfrm>
            <a:off x="0" y="6309320"/>
            <a:ext cx="12192000" cy="5486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/>
          </a:p>
        </p:txBody>
      </p:sp>
      <p:sp>
        <p:nvSpPr>
          <p:cNvPr id="8" name="Textfeld 7"/>
          <p:cNvSpPr txBox="1"/>
          <p:nvPr/>
        </p:nvSpPr>
        <p:spPr>
          <a:xfrm>
            <a:off x="9648395" y="6429773"/>
            <a:ext cx="229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noProof="0" dirty="0">
                <a:solidFill>
                  <a:schemeClr val="bg1"/>
                </a:solidFill>
              </a:rPr>
              <a:t>© db</a:t>
            </a:r>
            <a:r>
              <a:rPr lang="en-US" sz="1200" b="1" baseline="0" noProof="0" dirty="0">
                <a:solidFill>
                  <a:schemeClr val="bg1"/>
                </a:solidFill>
              </a:rPr>
              <a:t> Berater GmbH (</a:t>
            </a:r>
            <a:fld id="{918F7804-3F46-47BC-B8F6-F601438D5C89}" type="datetimeyyyy">
              <a:rPr lang="en-US" sz="1200" b="1" baseline="0" noProof="0" smtClean="0">
                <a:solidFill>
                  <a:schemeClr val="bg1"/>
                </a:solidFill>
              </a:rPr>
              <a:t>2026</a:t>
            </a:fld>
            <a:r>
              <a:rPr lang="en-US" sz="1200" b="1" baseline="0" noProof="0" dirty="0">
                <a:solidFill>
                  <a:schemeClr val="bg1"/>
                </a:solidFill>
              </a:rPr>
              <a:t>)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0584" y="6429773"/>
            <a:ext cx="4845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2"/>
                </a:solidFill>
              </a:rPr>
              <a:t>Author</a:t>
            </a:r>
            <a:r>
              <a:rPr lang="en-US" sz="1200" b="1" noProof="0" dirty="0">
                <a:solidFill>
                  <a:schemeClr val="bg1"/>
                </a:solidFill>
              </a:rPr>
              <a:t>: Uwe Ricken (Data Platform MVP / MCM)</a:t>
            </a:r>
          </a:p>
        </p:txBody>
      </p:sp>
    </p:spTree>
    <p:extLst>
      <p:ext uri="{BB962C8B-B14F-4D97-AF65-F5344CB8AC3E}">
        <p14:creationId xmlns:p14="http://schemas.microsoft.com/office/powerpoint/2010/main" val="198317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90" r:id="rId6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78" indent="-228578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73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  <p15:guide id="2" orient="horz" pos="278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5654" userDrawn="1">
          <p15:clr>
            <a:srgbClr val="F26B43"/>
          </p15:clr>
        </p15:guide>
        <p15:guide id="5" orient="horz" pos="9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-berater/Mastering-SQL-Server-Statistic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2.jp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hyperlink" Target="https://bsky.app/profile/sqlbambi.bsky.social" TargetMode="External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qlchallenges.de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ola.hallengren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-berater/Improve-your-Skills-as-a-SQL-Server-DBA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Mastering SQL Server Statistics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Uwe Ricken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337072" y="4389107"/>
            <a:ext cx="11325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165364"/>
                </a:solidFill>
                <a:latin typeface="verdana" panose="020B0604030504040204" pitchFamily="34" charset="0"/>
                <a:hlinkClick r:id="rId3"/>
              </a:rPr>
              <a:t>https://github.com/db-berater/Mastering-SQL-Server-Statistics</a:t>
            </a:r>
            <a:endParaRPr lang="de-DE" b="1" dirty="0">
              <a:solidFill>
                <a:srgbClr val="165364"/>
              </a:solidFill>
              <a:latin typeface="verdana" panose="020B0604030504040204" pitchFamily="34" charset="0"/>
            </a:endParaRPr>
          </a:p>
          <a:p>
            <a:pPr algn="ctr"/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406771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Uwe Ricken</a:t>
            </a:r>
            <a:br>
              <a:rPr lang="en-US" noProof="0" dirty="0"/>
            </a:br>
            <a:r>
              <a:rPr lang="en-US" sz="1800" b="0" noProof="0" dirty="0"/>
              <a:t>db </a:t>
            </a:r>
            <a:r>
              <a:rPr lang="en-US" sz="1800" b="0" noProof="0" dirty="0">
                <a:solidFill>
                  <a:schemeClr val="tx1"/>
                </a:solidFill>
              </a:rPr>
              <a:t>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noProof="0" dirty="0"/>
              <a:t>I am working with IT-systems since early 1990's and with the main focus on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 </a:t>
            </a:r>
            <a:r>
              <a:rPr lang="en-US" sz="1400" noProof="0" dirty="0"/>
              <a:t>since version 6.0. I started with development of database applications in 1998 with a professional CRM-System based on Microsoft products (Microsoft Office and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</a:t>
            </a:r>
            <a:r>
              <a:rPr lang="en-US" sz="1400" noProof="0" dirty="0"/>
              <a:t>).</a:t>
            </a:r>
          </a:p>
          <a:p>
            <a:pPr marL="0" indent="0">
              <a:buNone/>
            </a:pPr>
            <a:br>
              <a:rPr lang="en-US" sz="1400" noProof="0" dirty="0"/>
            </a:br>
            <a:r>
              <a:rPr lang="en-US" sz="1400" noProof="0" dirty="0"/>
              <a:t>Since 2008 I'm focused exclusively on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</a:t>
            </a:r>
            <a:r>
              <a:rPr lang="en-US" sz="1400" noProof="0" dirty="0"/>
              <a:t> and working in 3rd level support teams for banks, insurances and global industries.</a:t>
            </a:r>
          </a:p>
          <a:p>
            <a:pPr marL="0" indent="0">
              <a:buNone/>
            </a:pPr>
            <a:endParaRPr lang="en-US" sz="1400" noProof="0" dirty="0"/>
          </a:p>
          <a:p>
            <a:pPr marL="0" indent="0">
              <a:buNone/>
            </a:pPr>
            <a:r>
              <a:rPr lang="en-US" sz="1400" noProof="0" dirty="0"/>
              <a:t>Since May 2013 I am a </a:t>
            </a:r>
            <a:r>
              <a:rPr lang="en-US" sz="1400" noProof="0" dirty="0">
                <a:solidFill>
                  <a:srgbClr val="FF0000"/>
                </a:solidFill>
              </a:rPr>
              <a:t>Microsoft Certified Master: SQL Server 2008 </a:t>
            </a:r>
            <a:r>
              <a:rPr lang="en-US" sz="1400" noProof="0" dirty="0"/>
              <a:t>which was an amazing way into the depth of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</a:t>
            </a:r>
            <a:r>
              <a:rPr lang="en-US" sz="1400" noProof="0" dirty="0"/>
              <a:t>.</a:t>
            </a:r>
          </a:p>
          <a:p>
            <a:pPr marL="0" indent="0">
              <a:buNone/>
            </a:pPr>
            <a:endParaRPr lang="en-US" sz="1400" noProof="0" dirty="0"/>
          </a:p>
          <a:p>
            <a:pPr marL="0" indent="0">
              <a:buNone/>
            </a:pPr>
            <a:r>
              <a:rPr lang="en-US" sz="1400" noProof="0" dirty="0"/>
              <a:t>In July 2013 I have been awarded with the MVP Award for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</a:t>
            </a:r>
            <a:r>
              <a:rPr lang="en-US" sz="1400" noProof="0" dirty="0"/>
              <a:t>.</a:t>
            </a:r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tabLst>
                <a:tab pos="903220" algn="l"/>
              </a:tabLst>
            </a:pPr>
            <a:r>
              <a:rPr lang="en-US" sz="1400" noProof="0" dirty="0"/>
              <a:t>www:	</a:t>
            </a:r>
            <a:r>
              <a:rPr lang="en-US" sz="1400" noProof="0" dirty="0">
                <a:hlinkClick r:id="rId2"/>
              </a:rPr>
              <a:t>http://www.db-berater.de</a:t>
            </a:r>
            <a:endParaRPr lang="en-US" sz="1400" noProof="0" dirty="0"/>
          </a:p>
          <a:p>
            <a:pPr marL="0" indent="0">
              <a:buNone/>
              <a:tabLst>
                <a:tab pos="903220" algn="l"/>
              </a:tabLst>
            </a:pPr>
            <a:r>
              <a:rPr lang="en-US" sz="1400" noProof="0" dirty="0"/>
              <a:t>email:	</a:t>
            </a:r>
            <a:r>
              <a:rPr lang="en-US" sz="1400" noProof="0" dirty="0">
                <a:hlinkClick r:id="rId3"/>
              </a:rPr>
              <a:t>uwe.ricken@db-berater.de</a:t>
            </a:r>
            <a:endParaRPr lang="en-US" sz="1400" noProof="0" dirty="0"/>
          </a:p>
          <a:p>
            <a:pPr marL="0" indent="0">
              <a:buNone/>
              <a:tabLst>
                <a:tab pos="903220" algn="l"/>
              </a:tabLst>
            </a:pPr>
            <a:r>
              <a:rPr lang="en-US" sz="1400" noProof="0" dirty="0"/>
              <a:t>blog:	</a:t>
            </a:r>
            <a:r>
              <a:rPr lang="en-US" sz="1400" noProof="0" dirty="0">
                <a:hlinkClick r:id="rId4"/>
              </a:rPr>
              <a:t>http://www.sqlmaster.de</a:t>
            </a:r>
            <a:endParaRPr lang="en-US" sz="1400" noProof="0" dirty="0"/>
          </a:p>
          <a:p>
            <a:pPr marL="0" indent="0">
              <a:buNone/>
              <a:tabLst>
                <a:tab pos="903220" algn="l"/>
              </a:tabLst>
            </a:pPr>
            <a:r>
              <a:rPr lang="en-US" sz="1400" noProof="0" dirty="0"/>
              <a:t>BlueSky:	</a:t>
            </a:r>
            <a:r>
              <a:rPr lang="en-US" sz="1400" noProof="0" dirty="0">
                <a:hlinkClick r:id="rId5"/>
              </a:rPr>
              <a:t>@sqlbambi</a:t>
            </a:r>
            <a:endParaRPr lang="en-US" sz="1400" noProof="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3494589"/>
            <a:ext cx="1143000" cy="8358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72" y="3494589"/>
            <a:ext cx="1143000" cy="85725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4682334"/>
            <a:ext cx="1458955" cy="598545"/>
          </a:xfrm>
          <a:prstGeom prst="rect">
            <a:avLst/>
          </a:prstGeom>
        </p:spPr>
      </p:pic>
      <p:pic>
        <p:nvPicPr>
          <p:cNvPr id="5" name="Grafik 4" descr="Ein Bild, das Person, Mann, Brille, tragen enthält.&#10;&#10;Automatisch generierte Beschreibung">
            <a:extLst>
              <a:ext uri="{FF2B5EF4-FFF2-40B4-BE49-F238E27FC236}">
                <a16:creationId xmlns:a16="http://schemas.microsoft.com/office/drawing/2014/main" id="{46333317-A6F3-B2D3-B9F5-6B4A79A834B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8"/>
          <a:stretch/>
        </p:blipFill>
        <p:spPr>
          <a:xfrm>
            <a:off x="6499644" y="3429000"/>
            <a:ext cx="1715073" cy="185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8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341E920-2BA9-C6AC-D645-F3BC0BFB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67" y="2149215"/>
            <a:ext cx="6488975" cy="3617603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D5F1E84-96EA-2FC2-EB23-C97E371D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4" y="1678743"/>
            <a:ext cx="5033101" cy="4558548"/>
          </a:xfrm>
        </p:spPr>
        <p:txBody>
          <a:bodyPr/>
          <a:lstStyle/>
          <a:p>
            <a:r>
              <a:rPr lang="en-US" dirty="0"/>
              <a:t>Get a challenge at least once a month</a:t>
            </a:r>
          </a:p>
          <a:p>
            <a:r>
              <a:rPr lang="en-US" dirty="0"/>
              <a:t>Connect to a provided SQL Server Instance</a:t>
            </a:r>
          </a:p>
          <a:p>
            <a:r>
              <a:rPr lang="en-US" dirty="0"/>
              <a:t>Load the challenge scenario</a:t>
            </a:r>
          </a:p>
          <a:p>
            <a:r>
              <a:rPr lang="en-US" dirty="0"/>
              <a:t>Try to solve it</a:t>
            </a:r>
          </a:p>
          <a:p>
            <a:r>
              <a:rPr lang="en-US" dirty="0"/>
              <a:t>Blog about your solution</a:t>
            </a:r>
          </a:p>
          <a:p>
            <a:r>
              <a:rPr lang="en-US" dirty="0"/>
              <a:t>Leave a link in the comments of the challenge to your blog post.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https://sqlchallenges.de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F77BBF-034A-A53E-C4B8-E4039AC9F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441327"/>
            <a:ext cx="9037637" cy="1116015"/>
          </a:xfrm>
        </p:spPr>
        <p:txBody>
          <a:bodyPr anchor="ctr">
            <a:normAutofit/>
          </a:bodyPr>
          <a:lstStyle/>
          <a:p>
            <a:r>
              <a:rPr lang="en-US" dirty="0"/>
              <a:t>Challenge SQL Server real 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920116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B64B5-85B3-E815-0704-39A8BA72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BAB31C-C8AA-AC67-0046-C0E314481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about Statistics</a:t>
            </a:r>
          </a:p>
          <a:p>
            <a:pPr lvl="1"/>
            <a:r>
              <a:rPr lang="en-US" dirty="0"/>
              <a:t>Database settings for Statistics</a:t>
            </a:r>
          </a:p>
          <a:p>
            <a:pPr lvl="1"/>
            <a:r>
              <a:rPr lang="en-US" dirty="0"/>
              <a:t>When are Statistics created?</a:t>
            </a:r>
          </a:p>
          <a:p>
            <a:pPr lvl="1"/>
            <a:r>
              <a:rPr lang="en-US" dirty="0"/>
              <a:t>When are Statistics updated?</a:t>
            </a:r>
          </a:p>
          <a:p>
            <a:pPr lvl="1"/>
            <a:r>
              <a:rPr lang="en-US" dirty="0"/>
              <a:t>When are Statistics deleted?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Settings for Statistics</a:t>
            </a:r>
          </a:p>
          <a:p>
            <a:pPr lvl="1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no_recompute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auto_drop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(&gt;=SQL Server 2022)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Incremental Statistics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Ascending Key(s) and Statistics</a:t>
            </a:r>
          </a:p>
          <a:p>
            <a:r>
              <a:rPr lang="en-US" dirty="0"/>
              <a:t>Real World Scenarios and Statistics</a:t>
            </a:r>
          </a:p>
        </p:txBody>
      </p:sp>
    </p:spTree>
    <p:extLst>
      <p:ext uri="{BB962C8B-B14F-4D97-AF65-F5344CB8AC3E}">
        <p14:creationId xmlns:p14="http://schemas.microsoft.com/office/powerpoint/2010/main" val="172391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D4DD-9EA4-77FC-BC4E-152A1BAF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F98760-9CAE-26AD-A570-3D6781D6D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What are Statistics in SQL Server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08206E-6D6D-BBFF-B7BB-7ACD9D222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The tiny data models</a:t>
            </a:r>
            <a:br>
              <a:rPr lang="en-US" noProof="0" dirty="0"/>
            </a:br>
            <a:r>
              <a:rPr lang="en-US" noProof="0" dirty="0"/>
              <a:t>that tell the optimizer</a:t>
            </a:r>
            <a:br>
              <a:rPr lang="en-US" noProof="0" dirty="0"/>
            </a:br>
            <a:r>
              <a:rPr lang="en-US" noProof="0" dirty="0"/>
              <a:t>what your tables look like.</a:t>
            </a:r>
          </a:p>
        </p:txBody>
      </p:sp>
    </p:spTree>
    <p:extLst>
      <p:ext uri="{BB962C8B-B14F-4D97-AF65-F5344CB8AC3E}">
        <p14:creationId xmlns:p14="http://schemas.microsoft.com/office/powerpoint/2010/main" val="427202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1666F6F-DAA8-C84C-1054-857A3E6C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Let's plan a house….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B920E5BC-97F2-010F-8940-884E29608C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0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9C7DB8-3D49-018C-C984-5DE85EEC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would like a house for my family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2E3A3BF-6311-F431-ADEE-F7A929BB68ED}"/>
              </a:ext>
            </a:extLst>
          </p:cNvPr>
          <p:cNvSpPr/>
          <p:nvPr/>
        </p:nvSpPr>
        <p:spPr>
          <a:xfrm>
            <a:off x="6556829" y="1516743"/>
            <a:ext cx="2046514" cy="1378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295636BC-B3CC-1523-C26B-E02ADC3B1747}"/>
              </a:ext>
            </a:extLst>
          </p:cNvPr>
          <p:cNvSpPr/>
          <p:nvPr/>
        </p:nvSpPr>
        <p:spPr>
          <a:xfrm>
            <a:off x="8983813" y="3429000"/>
            <a:ext cx="780911" cy="388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9B3D0A8-845B-CF47-4EE2-52125602B9A7}"/>
              </a:ext>
            </a:extLst>
          </p:cNvPr>
          <p:cNvSpPr/>
          <p:nvPr/>
        </p:nvSpPr>
        <p:spPr>
          <a:xfrm>
            <a:off x="6556829" y="2895600"/>
            <a:ext cx="2426984" cy="1362701"/>
          </a:xfrm>
          <a:prstGeom prst="rect">
            <a:avLst/>
          </a:prstGeom>
          <a:solidFill>
            <a:srgbClr val="C00000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Parsing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Compilation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Optimization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F62186A-1C70-EE31-36CE-6F85950076D6}"/>
              </a:ext>
            </a:extLst>
          </p:cNvPr>
          <p:cNvSpPr/>
          <p:nvPr/>
        </p:nvSpPr>
        <p:spPr>
          <a:xfrm>
            <a:off x="9868944" y="2895599"/>
            <a:ext cx="2269629" cy="1362701"/>
          </a:xfrm>
          <a:prstGeom prst="rect">
            <a:avLst/>
          </a:prstGeom>
          <a:solidFill>
            <a:srgbClr val="FFA7A7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Query Ex…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1B57A09-9F6E-8150-1E54-A4366964BD82}"/>
              </a:ext>
            </a:extLst>
          </p:cNvPr>
          <p:cNvSpPr/>
          <p:nvPr/>
        </p:nvSpPr>
        <p:spPr>
          <a:xfrm>
            <a:off x="11546377" y="1978429"/>
            <a:ext cx="645331" cy="2917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E02BB1D6-A20E-282F-45C9-AF7665E2AF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noProof="0" dirty="0"/>
              <a:t>Parsing</a:t>
            </a:r>
          </a:p>
          <a:p>
            <a:pPr lvl="1"/>
            <a:r>
              <a:rPr lang="en-US" noProof="0" dirty="0"/>
              <a:t>Parsing is the process in SQL Server where the query text is broken down into its grammatical components, checked for valid syntax, and prepared for further processing. 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In real life, parsing is like someone reading your sentence and first making sure the grammar makes sense before deciding what you want them to do.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1488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99FC-6E76-3189-52EB-C497DCCB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4A540-7A7A-4437-43C9-B33F0E27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would like a house for my family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EBB4FD3-8B39-EF6B-00A4-A73BB995D848}"/>
              </a:ext>
            </a:extLst>
          </p:cNvPr>
          <p:cNvSpPr/>
          <p:nvPr/>
        </p:nvSpPr>
        <p:spPr>
          <a:xfrm>
            <a:off x="6556829" y="1516743"/>
            <a:ext cx="2046514" cy="1378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9CDEF519-CFEE-7BE3-178A-F507FF4E7525}"/>
              </a:ext>
            </a:extLst>
          </p:cNvPr>
          <p:cNvSpPr/>
          <p:nvPr/>
        </p:nvSpPr>
        <p:spPr>
          <a:xfrm>
            <a:off x="8983813" y="3429000"/>
            <a:ext cx="780911" cy="388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2A2DCAD-7264-992A-1B78-FCF906912BB0}"/>
              </a:ext>
            </a:extLst>
          </p:cNvPr>
          <p:cNvSpPr/>
          <p:nvPr/>
        </p:nvSpPr>
        <p:spPr>
          <a:xfrm>
            <a:off x="6556829" y="2895600"/>
            <a:ext cx="2426984" cy="1362701"/>
          </a:xfrm>
          <a:prstGeom prst="rect">
            <a:avLst/>
          </a:prstGeom>
          <a:solidFill>
            <a:srgbClr val="C00000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Parsing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Compilation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Optimization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53E4D43-718A-DE00-BF59-049A5C84A2CB}"/>
              </a:ext>
            </a:extLst>
          </p:cNvPr>
          <p:cNvSpPr/>
          <p:nvPr/>
        </p:nvSpPr>
        <p:spPr>
          <a:xfrm>
            <a:off x="9868944" y="2895599"/>
            <a:ext cx="2269629" cy="1362701"/>
          </a:xfrm>
          <a:prstGeom prst="rect">
            <a:avLst/>
          </a:prstGeom>
          <a:solidFill>
            <a:srgbClr val="FFA7A7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Query Ex …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850C77-C08A-B072-C216-22DAB4E86311}"/>
              </a:ext>
            </a:extLst>
          </p:cNvPr>
          <p:cNvSpPr/>
          <p:nvPr/>
        </p:nvSpPr>
        <p:spPr>
          <a:xfrm>
            <a:off x="11546377" y="1978429"/>
            <a:ext cx="645331" cy="2917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EF576CE4-82C7-B324-6774-ED036F13F4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noProof="0" dirty="0"/>
              <a:t>Compilation</a:t>
            </a:r>
          </a:p>
          <a:p>
            <a:pPr lvl="1"/>
            <a:r>
              <a:rPr lang="en-US" noProof="0" dirty="0"/>
              <a:t>Compilation is the phase in SQL Server where the validated query is transformed into a logical execution plan that describes what needs to be done, step by step, </a:t>
            </a:r>
            <a:r>
              <a:rPr lang="en-US" b="1" noProof="0" dirty="0"/>
              <a:t>without yet deciding how it will be executed</a:t>
            </a:r>
            <a:r>
              <a:rPr lang="en-US" noProof="0" dirty="0"/>
              <a:t>.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In real life, compilation is like an architect taking your idea for a house and turning it into a clean, structured blueprint.</a:t>
            </a:r>
            <a:br>
              <a:rPr lang="en-US" dirty="0"/>
            </a:br>
            <a:r>
              <a:rPr lang="en-US" dirty="0"/>
              <a:t>The architect is only collecting the necessary objects and processes!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1540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FDFD-27C6-C363-EC9A-075650BC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18546A-68F4-0997-EB9B-EAB0B3C8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 would like a house for my family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DEA002E-D9B3-BE67-C07D-2E458A0DE6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Compilation</a:t>
            </a:r>
            <a:endParaRPr lang="en-US" sz="1400" b="1" noProof="0" dirty="0">
              <a:solidFill>
                <a:srgbClr val="FF0000"/>
              </a:solidFill>
            </a:endParaRPr>
          </a:p>
          <a:p>
            <a:pPr lvl="1"/>
            <a:r>
              <a:rPr lang="en-US" noProof="0" dirty="0"/>
              <a:t>The architect begins planning the house.</a:t>
            </a:r>
          </a:p>
          <a:p>
            <a:pPr lvl="1"/>
            <a:r>
              <a:rPr lang="en-US" noProof="0" dirty="0"/>
              <a:t>He identifies every resource the project will require.</a:t>
            </a:r>
          </a:p>
          <a:p>
            <a:pPr lvl="1"/>
            <a:r>
              <a:rPr lang="en-US" noProof="0" dirty="0"/>
              <a:t>He determines which</a:t>
            </a:r>
          </a:p>
          <a:p>
            <a:pPr lvl="2"/>
            <a:r>
              <a:rPr lang="en-US" noProof="0" dirty="0"/>
              <a:t>tools are needed</a:t>
            </a:r>
          </a:p>
          <a:p>
            <a:pPr lvl="2"/>
            <a:r>
              <a:rPr lang="en-US" noProof="0" dirty="0"/>
              <a:t>workers must be assigned</a:t>
            </a:r>
          </a:p>
          <a:p>
            <a:pPr lvl="2"/>
            <a:r>
              <a:rPr lang="en-US" noProof="0" dirty="0"/>
              <a:t>construction machines are essential</a:t>
            </a:r>
          </a:p>
          <a:p>
            <a:pPr lvl="2"/>
            <a:r>
              <a:rPr lang="en-US" noProof="0" dirty="0"/>
              <a:t>which materials must be prepared.</a:t>
            </a:r>
          </a:p>
          <a:p>
            <a:pPr lvl="1"/>
            <a:r>
              <a:rPr lang="en-US" noProof="0" dirty="0"/>
              <a:t>He gathers and organizes all components</a:t>
            </a:r>
          </a:p>
          <a:p>
            <a:pPr lvl="1"/>
            <a:endParaRPr lang="en-US" noProof="0" dirty="0"/>
          </a:p>
          <a:p>
            <a:pPr marL="0" indent="0">
              <a:buNone/>
            </a:pPr>
            <a:r>
              <a:rPr lang="en-US" sz="1400" b="1" noProof="0" dirty="0">
                <a:solidFill>
                  <a:srgbClr val="FF0000"/>
                </a:solidFill>
              </a:rPr>
              <a:t>The architect is PLANNING the house but he’s NOT BUILDING it!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C4084A3-2B28-066E-BD74-3D0166717374}"/>
              </a:ext>
            </a:extLst>
          </p:cNvPr>
          <p:cNvGrpSpPr/>
          <p:nvPr/>
        </p:nvGrpSpPr>
        <p:grpSpPr>
          <a:xfrm>
            <a:off x="6479766" y="2070932"/>
            <a:ext cx="5634879" cy="1912258"/>
            <a:chOff x="6556829" y="1516743"/>
            <a:chExt cx="5634879" cy="1912258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B90FF71D-2D02-5B2E-5987-820BEE45113E}"/>
                </a:ext>
              </a:extLst>
            </p:cNvPr>
            <p:cNvGrpSpPr/>
            <p:nvPr/>
          </p:nvGrpSpPr>
          <p:grpSpPr>
            <a:xfrm>
              <a:off x="6556829" y="1516743"/>
              <a:ext cx="5581745" cy="1843778"/>
              <a:chOff x="6556829" y="1516743"/>
              <a:chExt cx="5581745" cy="1843778"/>
            </a:xfrm>
          </p:grpSpPr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0CBC5113-2680-A6A2-F23F-E3665CDB7482}"/>
                  </a:ext>
                </a:extLst>
              </p:cNvPr>
              <p:cNvSpPr/>
              <p:nvPr/>
            </p:nvSpPr>
            <p:spPr>
              <a:xfrm>
                <a:off x="6556829" y="1516743"/>
                <a:ext cx="2046514" cy="13788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B3F68817-F07B-78BD-E4F8-D1D84D66E145}"/>
                  </a:ext>
                </a:extLst>
              </p:cNvPr>
              <p:cNvSpPr/>
              <p:nvPr/>
            </p:nvSpPr>
            <p:spPr>
              <a:xfrm>
                <a:off x="6556829" y="1997820"/>
                <a:ext cx="2426984" cy="1362701"/>
              </a:xfrm>
              <a:prstGeom prst="rect">
                <a:avLst/>
              </a:prstGeom>
              <a:solidFill>
                <a:srgbClr val="C00000"/>
              </a:solidFill>
              <a:ln w="571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0" dirty="0">
                    <a:solidFill>
                      <a:schemeClr val="bg1">
                        <a:lumMod val="50000"/>
                      </a:schemeClr>
                    </a:solidFill>
                  </a:rPr>
                  <a:t>Parsing</a:t>
                </a:r>
              </a:p>
              <a:p>
                <a:pPr algn="ctr"/>
                <a:r>
                  <a:rPr lang="en-US" b="1" noProof="0" dirty="0"/>
                  <a:t>Compilation</a:t>
                </a:r>
              </a:p>
              <a:p>
                <a:pPr algn="ctr"/>
                <a:r>
                  <a:rPr lang="en-US" b="1" noProof="0" dirty="0"/>
                  <a:t>Optimization</a:t>
                </a:r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50908476-80C9-5A00-59EB-78E5B24399B8}"/>
                  </a:ext>
                </a:extLst>
              </p:cNvPr>
              <p:cNvSpPr/>
              <p:nvPr/>
            </p:nvSpPr>
            <p:spPr>
              <a:xfrm>
                <a:off x="9711590" y="1997819"/>
                <a:ext cx="2426984" cy="1362701"/>
              </a:xfrm>
              <a:prstGeom prst="rect">
                <a:avLst/>
              </a:prstGeom>
              <a:gradFill flip="none" rotWithShape="1">
                <a:gsLst>
                  <a:gs pos="0">
                    <a:srgbClr val="FFA7A7">
                      <a:shade val="30000"/>
                      <a:satMod val="115000"/>
                    </a:srgbClr>
                  </a:gs>
                  <a:gs pos="50000">
                    <a:srgbClr val="FFA7A7">
                      <a:shade val="67500"/>
                      <a:satMod val="115000"/>
                    </a:srgbClr>
                  </a:gs>
                  <a:gs pos="100000">
                    <a:srgbClr val="FFA7A7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 w="571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0" dirty="0"/>
                  <a:t>Query Ex…</a:t>
                </a:r>
              </a:p>
            </p:txBody>
          </p:sp>
          <p:sp>
            <p:nvSpPr>
              <p:cNvPr id="7" name="Pfeil: nach rechts 6">
                <a:extLst>
                  <a:ext uri="{FF2B5EF4-FFF2-40B4-BE49-F238E27FC236}">
                    <a16:creationId xmlns:a16="http://schemas.microsoft.com/office/drawing/2014/main" id="{2165EDF6-3E55-2F99-045D-499E9CCEA74E}"/>
                  </a:ext>
                </a:extLst>
              </p:cNvPr>
              <p:cNvSpPr/>
              <p:nvPr/>
            </p:nvSpPr>
            <p:spPr>
              <a:xfrm>
                <a:off x="8983813" y="2531220"/>
                <a:ext cx="780911" cy="38878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46E2E933-DA56-30DE-1073-212E6E3C2B18}"/>
                </a:ext>
              </a:extLst>
            </p:cNvPr>
            <p:cNvSpPr/>
            <p:nvPr/>
          </p:nvSpPr>
          <p:spPr>
            <a:xfrm>
              <a:off x="11546377" y="1870365"/>
              <a:ext cx="645331" cy="15586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3E7DE1A7-8BF0-F373-3FCF-F4A47C255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993641"/>
            <a:ext cx="5761033" cy="38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8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9051-E192-4F42-E826-C81C152C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B29278-A903-3C97-854C-50A6EAE4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would like a house for my family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B4C7FED-80BB-9BFB-6804-A8932355F3D4}"/>
              </a:ext>
            </a:extLst>
          </p:cNvPr>
          <p:cNvSpPr/>
          <p:nvPr/>
        </p:nvSpPr>
        <p:spPr>
          <a:xfrm>
            <a:off x="6556829" y="1516743"/>
            <a:ext cx="2046514" cy="1378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035F783A-91C9-EDAB-721E-6032F044EE09}"/>
              </a:ext>
            </a:extLst>
          </p:cNvPr>
          <p:cNvSpPr/>
          <p:nvPr/>
        </p:nvSpPr>
        <p:spPr>
          <a:xfrm>
            <a:off x="8983813" y="3429000"/>
            <a:ext cx="780911" cy="388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2C05649-C388-D6B1-55DE-EDBF5E455E71}"/>
              </a:ext>
            </a:extLst>
          </p:cNvPr>
          <p:cNvSpPr/>
          <p:nvPr/>
        </p:nvSpPr>
        <p:spPr>
          <a:xfrm>
            <a:off x="6556829" y="2895600"/>
            <a:ext cx="2426984" cy="1362701"/>
          </a:xfrm>
          <a:prstGeom prst="rect">
            <a:avLst/>
          </a:prstGeom>
          <a:solidFill>
            <a:srgbClr val="C00000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Parsing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Compilation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Optimization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BB7C54A-EEF0-4B7E-9483-06C1DC10AE90}"/>
              </a:ext>
            </a:extLst>
          </p:cNvPr>
          <p:cNvSpPr/>
          <p:nvPr/>
        </p:nvSpPr>
        <p:spPr>
          <a:xfrm>
            <a:off x="9868944" y="2895599"/>
            <a:ext cx="2269629" cy="1362701"/>
          </a:xfrm>
          <a:prstGeom prst="rect">
            <a:avLst/>
          </a:prstGeom>
          <a:solidFill>
            <a:srgbClr val="FFA7A7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Query Ex …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88F9AC-9F00-F811-3AA4-40EEFEE60AF1}"/>
              </a:ext>
            </a:extLst>
          </p:cNvPr>
          <p:cNvSpPr/>
          <p:nvPr/>
        </p:nvSpPr>
        <p:spPr>
          <a:xfrm>
            <a:off x="11546377" y="1978429"/>
            <a:ext cx="645331" cy="2917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64C93C65-F5B5-BAC3-528D-23BECFD116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noProof="0" dirty="0"/>
              <a:t>Optimization</a:t>
            </a:r>
          </a:p>
          <a:p>
            <a:pPr lvl="1"/>
            <a:r>
              <a:rPr lang="en-US" noProof="0" dirty="0"/>
              <a:t>SQL Server evaluates multiple execution strategies, estimates their costs, and selects the plan with the lowest expected runtime.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The architect compares different construction methods, calculates their costs, and chooses the safest and most efficient way to build the structure.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30471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878C4-969F-82E6-5601-C9DFEA63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4C6B6-71E0-3AF6-3B3D-2CB7751C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would like a house for my family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60EC9362-AD0B-F355-3C38-5ECE9DCE59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Optimization</a:t>
            </a:r>
            <a:endParaRPr lang="en-US" sz="1400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The architect analyzes the cost of each resource.</a:t>
            </a:r>
          </a:p>
          <a:p>
            <a:pPr lvl="1"/>
            <a:r>
              <a:rPr lang="en-US" dirty="0"/>
              <a:t>He assigns a cost factor to every tool and machine based on required effort.</a:t>
            </a:r>
          </a:p>
          <a:p>
            <a:pPr lvl="2"/>
            <a:r>
              <a:rPr lang="en-US" b="1" dirty="0"/>
              <a:t>Site conditions</a:t>
            </a:r>
            <a:r>
              <a:rPr lang="en-US" dirty="0"/>
              <a:t> influence costs.</a:t>
            </a:r>
          </a:p>
          <a:p>
            <a:pPr lvl="1"/>
            <a:r>
              <a:rPr lang="en-US" dirty="0"/>
              <a:t>With all price tags defined, he selects the most cost‑effective combination of resources.</a:t>
            </a:r>
          </a:p>
          <a:p>
            <a:pPr lvl="1"/>
            <a:r>
              <a:rPr lang="en-US" dirty="0"/>
              <a:t>Now he can create a schedule for the chosen combination.</a:t>
            </a:r>
          </a:p>
          <a:p>
            <a:pPr lvl="1"/>
            <a:r>
              <a:rPr lang="en-US" b="1" dirty="0"/>
              <a:t>The result is an optimized plan with total cost estimation.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The architect is PLANNING the house but he’s NOT BUILDING it!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7401509-18D6-01E9-B791-425434DBAB3F}"/>
              </a:ext>
            </a:extLst>
          </p:cNvPr>
          <p:cNvGrpSpPr/>
          <p:nvPr/>
        </p:nvGrpSpPr>
        <p:grpSpPr>
          <a:xfrm>
            <a:off x="6479766" y="2070932"/>
            <a:ext cx="5634879" cy="1912258"/>
            <a:chOff x="6556829" y="1516743"/>
            <a:chExt cx="5634879" cy="1912258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C988D521-7822-7165-19CF-81927D809CC8}"/>
                </a:ext>
              </a:extLst>
            </p:cNvPr>
            <p:cNvGrpSpPr/>
            <p:nvPr/>
          </p:nvGrpSpPr>
          <p:grpSpPr>
            <a:xfrm>
              <a:off x="6556829" y="1516743"/>
              <a:ext cx="5581745" cy="1843778"/>
              <a:chOff x="6556829" y="1516743"/>
              <a:chExt cx="5581745" cy="1843778"/>
            </a:xfrm>
          </p:grpSpPr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0AD26E81-F93E-62AB-1B73-AD0F7D3D05F5}"/>
                  </a:ext>
                </a:extLst>
              </p:cNvPr>
              <p:cNvSpPr/>
              <p:nvPr/>
            </p:nvSpPr>
            <p:spPr>
              <a:xfrm>
                <a:off x="6556829" y="1516743"/>
                <a:ext cx="2046514" cy="13788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18D2110D-7FB3-C742-16BF-B33A8CA20A7E}"/>
                  </a:ext>
                </a:extLst>
              </p:cNvPr>
              <p:cNvSpPr/>
              <p:nvPr/>
            </p:nvSpPr>
            <p:spPr>
              <a:xfrm>
                <a:off x="6556829" y="1997820"/>
                <a:ext cx="2426984" cy="1362701"/>
              </a:xfrm>
              <a:prstGeom prst="rect">
                <a:avLst/>
              </a:prstGeom>
              <a:solidFill>
                <a:srgbClr val="C00000"/>
              </a:solidFill>
              <a:ln w="571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Parsing</a:t>
                </a:r>
              </a:p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Compilation</a:t>
                </a:r>
              </a:p>
              <a:p>
                <a:pPr algn="ctr"/>
                <a:r>
                  <a:rPr lang="en-US" b="1" dirty="0"/>
                  <a:t>Optimization</a:t>
                </a:r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62CB3B8A-8B43-5E20-3835-6A1C5C27B93D}"/>
                  </a:ext>
                </a:extLst>
              </p:cNvPr>
              <p:cNvSpPr/>
              <p:nvPr/>
            </p:nvSpPr>
            <p:spPr>
              <a:xfrm>
                <a:off x="9711590" y="1997819"/>
                <a:ext cx="2426984" cy="1362701"/>
              </a:xfrm>
              <a:prstGeom prst="rect">
                <a:avLst/>
              </a:prstGeom>
              <a:gradFill flip="none" rotWithShape="1">
                <a:gsLst>
                  <a:gs pos="0">
                    <a:srgbClr val="FFA7A7">
                      <a:shade val="30000"/>
                      <a:satMod val="115000"/>
                    </a:srgbClr>
                  </a:gs>
                  <a:gs pos="50000">
                    <a:srgbClr val="FFA7A7">
                      <a:shade val="67500"/>
                      <a:satMod val="115000"/>
                    </a:srgbClr>
                  </a:gs>
                  <a:gs pos="100000">
                    <a:srgbClr val="FFA7A7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 w="571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Query Ex…</a:t>
                </a:r>
              </a:p>
            </p:txBody>
          </p:sp>
          <p:sp>
            <p:nvSpPr>
              <p:cNvPr id="7" name="Pfeil: nach rechts 6">
                <a:extLst>
                  <a:ext uri="{FF2B5EF4-FFF2-40B4-BE49-F238E27FC236}">
                    <a16:creationId xmlns:a16="http://schemas.microsoft.com/office/drawing/2014/main" id="{7960E17A-2C1D-2378-A563-C0B5E8462EF6}"/>
                  </a:ext>
                </a:extLst>
              </p:cNvPr>
              <p:cNvSpPr/>
              <p:nvPr/>
            </p:nvSpPr>
            <p:spPr>
              <a:xfrm>
                <a:off x="8983813" y="2531220"/>
                <a:ext cx="780911" cy="38878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237347AB-7024-033C-5E01-6C6A356027D2}"/>
                </a:ext>
              </a:extLst>
            </p:cNvPr>
            <p:cNvSpPr/>
            <p:nvPr/>
          </p:nvSpPr>
          <p:spPr>
            <a:xfrm>
              <a:off x="11546377" y="1870365"/>
              <a:ext cx="645331" cy="15586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052AF6A3-3058-3649-987B-28CF7684E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4312"/>
            <a:ext cx="5759303" cy="38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0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AE20-CDF3-8657-C175-D91E8813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98E8F-337F-0E09-1460-3CF42A2A8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Basics about Statistics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EB3CFC-FE4D-CB10-A11F-9287832365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The core rules that govern</a:t>
            </a:r>
          </a:p>
          <a:p>
            <a:r>
              <a:rPr lang="en-US" noProof="0" dirty="0"/>
              <a:t>when SQL Server creates, refreshes, and retires</a:t>
            </a:r>
          </a:p>
          <a:p>
            <a:r>
              <a:rPr lang="en-US" noProof="0" dirty="0"/>
              <a:t>the statistics queries depend on.</a:t>
            </a:r>
          </a:p>
        </p:txBody>
      </p:sp>
    </p:spTree>
    <p:extLst>
      <p:ext uri="{BB962C8B-B14F-4D97-AF65-F5344CB8AC3E}">
        <p14:creationId xmlns:p14="http://schemas.microsoft.com/office/powerpoint/2010/main" val="2170550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CED106-DC8A-2F3B-42EE-F176C669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Database Settings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DEE4F916-CB34-0EB6-1E57-FA18399F79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4963" y="1756225"/>
            <a:ext cx="5581650" cy="4390126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7499CFD-98E6-07B7-8C9E-BF2C14BFD1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noProof="0" dirty="0"/>
              <a:t>Auto Create Statistics</a:t>
            </a:r>
          </a:p>
          <a:p>
            <a:pPr lvl="1"/>
            <a:r>
              <a:rPr lang="en-US" noProof="0" dirty="0"/>
              <a:t>SQL Server builds the statistics it needs the moment your queries demand them.</a:t>
            </a:r>
          </a:p>
          <a:p>
            <a:r>
              <a:rPr lang="en-US" noProof="0" dirty="0"/>
              <a:t>Auto Update Statistics</a:t>
            </a:r>
          </a:p>
          <a:p>
            <a:pPr lvl="1"/>
            <a:r>
              <a:rPr lang="en-US" noProof="0" dirty="0"/>
              <a:t>Keeps statistics fresh so the optimizer doesn’t make decisions based on yesterday’s data.</a:t>
            </a:r>
          </a:p>
          <a:p>
            <a:r>
              <a:rPr lang="en-US" noProof="0" dirty="0"/>
              <a:t>Auto Update Statistics </a:t>
            </a:r>
            <a:r>
              <a:rPr lang="en-US" noProof="0" dirty="0" err="1"/>
              <a:t>Asynchron</a:t>
            </a:r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Refreshes stale stats in the background so your queries don’t have to wait for them.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7285931-58EA-3972-ECDB-69059EB05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473" y="3061829"/>
            <a:ext cx="4258269" cy="1314633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8351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95A5C6F-59A1-79F5-FD34-C2B4C18D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Statistics created?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78492F-4A4B-B20A-E607-E98564D673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Automatic Creation</a:t>
            </a:r>
          </a:p>
          <a:p>
            <a:pPr lvl="1"/>
            <a:r>
              <a:rPr lang="en-US" dirty="0"/>
              <a:t>Database Option “Auto create Statistics” must be ON</a:t>
            </a:r>
          </a:p>
          <a:p>
            <a:r>
              <a:rPr lang="en-US" dirty="0"/>
              <a:t>Index Creation</a:t>
            </a:r>
          </a:p>
          <a:p>
            <a:pPr lvl="1"/>
            <a:r>
              <a:rPr lang="en-US" dirty="0"/>
              <a:t>Every Index automatically creates a corresponding statistics object on the key column(s).</a:t>
            </a:r>
          </a:p>
          <a:p>
            <a:r>
              <a:rPr lang="en-US" dirty="0"/>
              <a:t>Manual Creation</a:t>
            </a:r>
          </a:p>
          <a:p>
            <a:pPr lvl="1"/>
            <a:r>
              <a:rPr lang="en-US" dirty="0"/>
              <a:t>Used for filtered stats, multi-column stats or precision control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28FD8A4-1016-E679-A8E2-B492470639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endParaRPr lang="de-DE" sz="1400" dirty="0">
              <a:solidFill>
                <a:srgbClr val="0000FF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CREATE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NONCLUSTERED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INDEX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nix_customers_c_nationkey</a:t>
            </a:r>
            <a:endParaRPr lang="de-DE" sz="1400" dirty="0">
              <a:solidFill>
                <a:srgbClr val="000000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dbo</a:t>
            </a:r>
            <a:r>
              <a:rPr lang="de-DE" sz="1400" dirty="0" err="1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customers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c_nationkey</a:t>
            </a:r>
            <a:r>
              <a:rPr lang="de-DE" sz="1400" dirty="0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);</a:t>
            </a:r>
            <a:endParaRPr lang="de-DE" sz="1400" dirty="0">
              <a:solidFill>
                <a:srgbClr val="000000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CREATE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STATISTICS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stats_orders_o_orderpriority</a:t>
            </a:r>
            <a:endParaRPr lang="de-DE" sz="1400" dirty="0">
              <a:solidFill>
                <a:srgbClr val="000000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dbo</a:t>
            </a:r>
            <a:r>
              <a:rPr lang="de-DE" sz="1400" dirty="0" err="1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orders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o_orderpriority</a:t>
            </a:r>
            <a:r>
              <a:rPr lang="de-DE" sz="1400" dirty="0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);</a:t>
            </a:r>
            <a:endParaRPr lang="de-DE" sz="1400" dirty="0">
              <a:solidFill>
                <a:srgbClr val="000000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32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409B4-8AAE-E12E-F441-DB44B2B2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Statistics updated?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00B0E9-5A46-85AF-C209-1BDCF35B4A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Automatic Updates</a:t>
            </a:r>
          </a:p>
          <a:p>
            <a:pPr lvl="1"/>
            <a:r>
              <a:rPr lang="en-US" dirty="0"/>
              <a:t>Triggered when enough rows have changed</a:t>
            </a:r>
          </a:p>
          <a:p>
            <a:pPr lvl="1"/>
            <a:r>
              <a:rPr lang="en-US" dirty="0"/>
              <a:t>Threshold depends on Compatibility Level</a:t>
            </a:r>
          </a:p>
          <a:p>
            <a:r>
              <a:rPr lang="en-US" dirty="0"/>
              <a:t>Manual Updates</a:t>
            </a:r>
          </a:p>
          <a:p>
            <a:pPr lvl="1"/>
            <a:r>
              <a:rPr lang="en-US" dirty="0"/>
              <a:t>Used when precision or deterministic behavior is required.</a:t>
            </a:r>
          </a:p>
        </p:txBody>
      </p:sp>
      <p:pic>
        <p:nvPicPr>
          <p:cNvPr id="6" name="UpdateStats small">
            <a:extLst>
              <a:ext uri="{FF2B5EF4-FFF2-40B4-BE49-F238E27FC236}">
                <a16:creationId xmlns:a16="http://schemas.microsoft.com/office/drawing/2014/main" id="{8D6BBEC3-F3AE-7A88-3D5B-85987A0F9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93" y="1678476"/>
            <a:ext cx="5535552" cy="2761639"/>
          </a:xfrm>
          <a:prstGeom prst="rect">
            <a:avLst/>
          </a:prstGeom>
        </p:spPr>
      </p:pic>
      <p:pic>
        <p:nvPicPr>
          <p:cNvPr id="7" name="UpdateStats big">
            <a:extLst>
              <a:ext uri="{FF2B5EF4-FFF2-40B4-BE49-F238E27FC236}">
                <a16:creationId xmlns:a16="http://schemas.microsoft.com/office/drawing/2014/main" id="{7D052FBA-CE81-EA1E-888A-AD0BA3DEF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60" y="1557338"/>
            <a:ext cx="9373123" cy="467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0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>
            <a:normAutofit/>
          </a:bodyPr>
          <a:lstStyle/>
          <a:p>
            <a:r>
              <a:rPr lang="en-US" noProof="0" dirty="0"/>
              <a:t>Algorithm for AUTO_UPDATE_STATISTICS: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>
            <a:normAutofit/>
          </a:bodyPr>
          <a:lstStyle/>
          <a:p>
            <a:r>
              <a:rPr lang="en-US" noProof="0" dirty="0"/>
              <a:t>Before SQL Server 2016</a:t>
            </a:r>
          </a:p>
          <a:p>
            <a:pPr lvl="1"/>
            <a:r>
              <a:rPr lang="en-US" noProof="0" dirty="0"/>
              <a:t>If the cardinality of a table is between 7 and 500 the statistics will be updated after 500 modifications.</a:t>
            </a:r>
          </a:p>
          <a:p>
            <a:pPr lvl="1"/>
            <a:r>
              <a:rPr lang="en-US" noProof="0" dirty="0"/>
              <a:t>If the table has more than 500 rows the statistics will be updated when 500 records + 20% have been modified.</a:t>
            </a:r>
          </a:p>
          <a:p>
            <a:r>
              <a:rPr lang="en-US" noProof="0" dirty="0"/>
              <a:t>Formula</a:t>
            </a:r>
          </a:p>
          <a:p>
            <a:pPr lvl="1"/>
            <a:r>
              <a:rPr lang="en-US" noProof="0" dirty="0"/>
              <a:t>rows * 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4E3E1A19-00D4-9AAB-DD03-3814B8F0D3A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271709" y="1665291"/>
                <a:ext cx="5585331" cy="4571999"/>
              </a:xfrm>
            </p:spPr>
            <p:txBody>
              <a:bodyPr/>
              <a:lstStyle/>
              <a:p>
                <a:r>
                  <a:rPr lang="en-US" noProof="0" dirty="0"/>
                  <a:t>SQL Server 2016 (or TF 2371)</a:t>
                </a:r>
              </a:p>
              <a:p>
                <a:pPr lvl="1"/>
                <a:r>
                  <a:rPr lang="en-US" noProof="0" dirty="0"/>
                  <a:t>SQL Server switches to a dynamic, data‑size‑aware threshold based on the square root of the number of row.</a:t>
                </a:r>
              </a:p>
              <a:p>
                <a:pPr lvl="1"/>
                <a:r>
                  <a:rPr lang="en-US" noProof="0" dirty="0"/>
                  <a:t>If the threshold value is bigger than with the old formula, the old </a:t>
                </a:r>
                <a:r>
                  <a:rPr lang="en-US" noProof="0" dirty="0" err="1"/>
                  <a:t>formua</a:t>
                </a:r>
                <a:r>
                  <a:rPr lang="en-US" noProof="0" dirty="0"/>
                  <a:t> value is used!</a:t>
                </a:r>
              </a:p>
              <a:p>
                <a:r>
                  <a:rPr lang="en-US" noProof="0" dirty="0"/>
                  <a:t>Formula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√(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𝑟𝑜𝑤𝑠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4E3E1A19-00D4-9AAB-DD03-3814B8F0D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71709" y="1665291"/>
                <a:ext cx="5585331" cy="4571999"/>
              </a:xfrm>
              <a:blipFill>
                <a:blip r:embed="rId2"/>
                <a:stretch>
                  <a:fillRect l="-1856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500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of statistics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Statistics have to be updated </a:t>
            </a:r>
            <a:r>
              <a:rPr lang="en-US" dirty="0" err="1"/>
              <a:t>regulary</a:t>
            </a:r>
            <a:r>
              <a:rPr lang="en-US" dirty="0"/>
              <a:t> for efficient execution plans</a:t>
            </a:r>
          </a:p>
          <a:p>
            <a:r>
              <a:rPr lang="en-US" dirty="0"/>
              <a:t>Statistics will be recreated / updated by the following conditions:</a:t>
            </a:r>
          </a:p>
          <a:p>
            <a:pPr lvl="1"/>
            <a:r>
              <a:rPr lang="en-US" dirty="0"/>
              <a:t>Creation / Rebuild of an index</a:t>
            </a:r>
          </a:p>
          <a:p>
            <a:pPr lvl="1"/>
            <a:r>
              <a:rPr lang="en-US" dirty="0"/>
              <a:t>Execution of </a:t>
            </a:r>
            <a:r>
              <a:rPr lang="en-US" dirty="0" err="1"/>
              <a:t>sp_updatestats</a:t>
            </a:r>
            <a:endParaRPr lang="en-US" dirty="0"/>
          </a:p>
          <a:p>
            <a:pPr lvl="1"/>
            <a:r>
              <a:rPr lang="en-US" dirty="0"/>
              <a:t>Execution of UPDATE STATISTICS</a:t>
            </a:r>
          </a:p>
          <a:p>
            <a:pPr lvl="1"/>
            <a:r>
              <a:rPr lang="en-US" dirty="0"/>
              <a:t>Automatic updated</a:t>
            </a:r>
          </a:p>
          <a:p>
            <a:r>
              <a:rPr lang="en-US" dirty="0"/>
              <a:t>Recommendation</a:t>
            </a:r>
          </a:p>
          <a:p>
            <a:pPr lvl="1"/>
            <a:r>
              <a:rPr lang="en-US" dirty="0">
                <a:hlinkClick r:id="rId2"/>
              </a:rPr>
              <a:t>http://ola.hallengren.com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496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Wand, drinnen, Person, essend enthält.&#10;&#10;Automatisch generierte Beschreibung">
            <a:extLst>
              <a:ext uri="{FF2B5EF4-FFF2-40B4-BE49-F238E27FC236}">
                <a16:creationId xmlns:a16="http://schemas.microsoft.com/office/drawing/2014/main" id="{B83979AF-EC4E-A3B7-5E7A-4742A3BCD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1196975"/>
            <a:ext cx="3409950" cy="3429000"/>
          </a:xfrm>
          <a:prstGeom prst="rect">
            <a:avLst/>
          </a:prstGeom>
          <a:ln w="57150">
            <a:solidFill>
              <a:schemeClr val="tx1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</p:pic>
      <p:sp>
        <p:nvSpPr>
          <p:cNvPr id="2" name="Untertitel 2">
            <a:extLst>
              <a:ext uri="{FF2B5EF4-FFF2-40B4-BE49-F238E27FC236}">
                <a16:creationId xmlns:a16="http://schemas.microsoft.com/office/drawing/2014/main" id="{C397CE24-1561-012C-8144-0FD46600A04F}"/>
              </a:ext>
            </a:extLst>
          </p:cNvPr>
          <p:cNvSpPr txBox="1">
            <a:spLocks/>
          </p:cNvSpPr>
          <p:nvPr/>
        </p:nvSpPr>
        <p:spPr>
          <a:xfrm>
            <a:off x="344245" y="4870174"/>
            <a:ext cx="11510683" cy="743821"/>
          </a:xfrm>
          <a:prstGeom prst="rect">
            <a:avLst/>
          </a:prstGeom>
        </p:spPr>
        <p:txBody>
          <a:bodyPr/>
          <a:lstStyle>
            <a:lvl1pPr marL="228584" indent="-228584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>
                <a:hlinkClick r:id="rId3"/>
              </a:rPr>
              <a:t>https://github.com/db-berater/</a:t>
            </a:r>
            <a:r>
              <a:rPr lang="de-DE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6906354"/>
      </p:ext>
    </p:extLst>
  </p:cSld>
  <p:clrMapOvr>
    <a:masterClrMapping/>
  </p:clrMapOvr>
</p:sld>
</file>

<file path=ppt/theme/theme1.xml><?xml version="1.0" encoding="utf-8"?>
<a:theme xmlns:a="http://schemas.openxmlformats.org/drawingml/2006/main" name="1_db-berater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" id="{A415B4FD-AA9B-4461-AC2B-36ED5617A0E3}" vid="{018F950C-F5FA-4D6B-B0C1-0DCF0BD0511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db-berater</Template>
  <TotalTime>0</TotalTime>
  <Words>1172</Words>
  <Application>Microsoft Office PowerPoint</Application>
  <PresentationFormat>Breitbild</PresentationFormat>
  <Paragraphs>168</Paragraphs>
  <Slides>18</Slides>
  <Notes>8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7" baseType="lpstr">
      <vt:lpstr>Aptos</vt:lpstr>
      <vt:lpstr>Arial</vt:lpstr>
      <vt:lpstr>Calibri</vt:lpstr>
      <vt:lpstr>Cambria Math</vt:lpstr>
      <vt:lpstr>Cascadia Mono</vt:lpstr>
      <vt:lpstr>Lucida Console</vt:lpstr>
      <vt:lpstr>Segoe UI</vt:lpstr>
      <vt:lpstr>verdana</vt:lpstr>
      <vt:lpstr>1_db-berater</vt:lpstr>
      <vt:lpstr>Mastering SQL Server Statistics</vt:lpstr>
      <vt:lpstr>Uwe Ricken db Berater GmbH</vt:lpstr>
      <vt:lpstr>Challenge SQL Server real world scenarios</vt:lpstr>
      <vt:lpstr>Session Agenda</vt:lpstr>
      <vt:lpstr>What are Statistics in SQL Server</vt:lpstr>
      <vt:lpstr>Let's plan a house….</vt:lpstr>
      <vt:lpstr>I would like a house for my family</vt:lpstr>
      <vt:lpstr>I would like a house for my family</vt:lpstr>
      <vt:lpstr>I would like a house for my family</vt:lpstr>
      <vt:lpstr>I would like a house for my family</vt:lpstr>
      <vt:lpstr>I would like a house for my family</vt:lpstr>
      <vt:lpstr>Basics about Statistics</vt:lpstr>
      <vt:lpstr>Database Settings</vt:lpstr>
      <vt:lpstr>When are Statistics created?</vt:lpstr>
      <vt:lpstr>When are Statistics updated?</vt:lpstr>
      <vt:lpstr>Algorithm for AUTO_UPDATE_STATISTICS:</vt:lpstr>
      <vt:lpstr>Maintenance of statistics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Uwe Ricken</dc:creator>
  <cp:lastModifiedBy>Uwe Ricken</cp:lastModifiedBy>
  <cp:revision>46</cp:revision>
  <dcterms:created xsi:type="dcterms:W3CDTF">2024-11-09T16:26:01Z</dcterms:created>
  <dcterms:modified xsi:type="dcterms:W3CDTF">2026-09-22T08:04:27Z</dcterms:modified>
</cp:coreProperties>
</file>